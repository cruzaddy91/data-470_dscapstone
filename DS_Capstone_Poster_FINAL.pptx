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40233600" cy="329184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1981D"/>
    <a:srgbClr val="C48545"/>
    <a:srgbClr val="AA6A2C"/>
    <a:srgbClr val="F5C61D"/>
    <a:srgbClr val="A468F2"/>
    <a:srgbClr val="9264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133A9D9-3A47-1704-9FBE-EC462113F3D6}" v="35" dt="2024-03-20T19:43:11.84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65" autoAdjust="0"/>
    <p:restoredTop sz="94660"/>
  </p:normalViewPr>
  <p:slideViewPr>
    <p:cSldViewPr snapToGrid="0">
      <p:cViewPr varScale="1">
        <p:scale>
          <a:sx n="23" d="100"/>
          <a:sy n="23" d="100"/>
        </p:scale>
        <p:origin x="1776" y="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microsoft.com/office/2015/10/relationships/revisionInfo" Target="revisionInfo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029200" y="5387342"/>
            <a:ext cx="30175200" cy="1146048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029200" y="17289782"/>
            <a:ext cx="30175200" cy="7947658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5105" y="8206745"/>
            <a:ext cx="34701480" cy="1369313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5105" y="22029425"/>
            <a:ext cx="34701480" cy="7200898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766060" y="8763000"/>
            <a:ext cx="1709928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368260" y="8763000"/>
            <a:ext cx="1709928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3/12/25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300" y="1752603"/>
            <a:ext cx="34701480" cy="6362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1302" y="8069582"/>
            <a:ext cx="17020697" cy="395477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771302" y="12024360"/>
            <a:ext cx="17020697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0368260" y="8069582"/>
            <a:ext cx="17104520" cy="395477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0368260" y="12024360"/>
            <a:ext cx="17104520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3/12/25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3/12/25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3/12/25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302" y="2194560"/>
            <a:ext cx="12976382" cy="768096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104520" y="4739642"/>
            <a:ext cx="20368260" cy="233934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771302" y="9875520"/>
            <a:ext cx="12976382" cy="1829562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3/12/25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302" y="2194560"/>
            <a:ext cx="12976382" cy="768096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7104520" y="4739642"/>
            <a:ext cx="20368260" cy="23393400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771302" y="9875520"/>
            <a:ext cx="12976382" cy="1829562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3/12/25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8792170" y="1752600"/>
            <a:ext cx="8675370" cy="2789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766060" y="1752600"/>
            <a:ext cx="25523190" cy="278968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66060" y="1752603"/>
            <a:ext cx="34701480" cy="6362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66060" y="8763000"/>
            <a:ext cx="34701480" cy="2088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766060" y="30510482"/>
            <a:ext cx="905256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3/12/25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327380" y="30510482"/>
            <a:ext cx="1357884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8414980" y="30510482"/>
            <a:ext cx="905256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D190A34-4461-9411-58BF-819136D31281}"/>
              </a:ext>
            </a:extLst>
          </p:cNvPr>
          <p:cNvSpPr/>
          <p:nvPr/>
        </p:nvSpPr>
        <p:spPr>
          <a:xfrm>
            <a:off x="0" y="0"/>
            <a:ext cx="40258530" cy="4006621"/>
          </a:xfrm>
          <a:prstGeom prst="rect">
            <a:avLst/>
          </a:prstGeom>
          <a:solidFill>
            <a:srgbClr val="A468F2">
              <a:alpha val="6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purple and black logo&#10;&#10;Description automatically generated">
            <a:extLst>
              <a:ext uri="{FF2B5EF4-FFF2-40B4-BE49-F238E27FC236}">
                <a16:creationId xmlns:a16="http://schemas.microsoft.com/office/drawing/2014/main" id="{6E49A1A9-724E-5647-B6EC-54D0DD9F3E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28" y="501562"/>
            <a:ext cx="5058802" cy="3300495"/>
          </a:xfrm>
          <a:prstGeom prst="rect">
            <a:avLst/>
          </a:prstGeom>
        </p:spPr>
      </p:pic>
      <p:pic>
        <p:nvPicPr>
          <p:cNvPr id="7" name="Picture 6" descr="A purple and black logo&#10;&#10;Description automatically generated">
            <a:extLst>
              <a:ext uri="{FF2B5EF4-FFF2-40B4-BE49-F238E27FC236}">
                <a16:creationId xmlns:a16="http://schemas.microsoft.com/office/drawing/2014/main" id="{0BA11062-6B24-DC3C-7DA3-C4FAB9D70D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96536" y="501561"/>
            <a:ext cx="5058802" cy="330049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0A39D7B-8B39-B1FB-A4C6-71CA6D36B1EB}"/>
              </a:ext>
            </a:extLst>
          </p:cNvPr>
          <p:cNvSpPr txBox="1"/>
          <p:nvPr/>
        </p:nvSpPr>
        <p:spPr>
          <a:xfrm>
            <a:off x="12019708" y="233366"/>
            <a:ext cx="16155090" cy="35548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sz="5600" b="1">
                <a:solidFill>
                  <a:srgbClr val="FFFFFF"/>
                </a:solidFill>
                <a:latin typeface="Times New Roman"/>
              </a:rPr>
              <a:t>Predictive Supply Chain Analytics
for Backorder Risk</a:t>
            </a:r>
          </a:p>
          <a:p>
            <a:pPr algn="ctr">
              <a:lnSpc>
                <a:spcPct val="108000"/>
              </a:lnSpc>
              <a:spcBef>
                <a:spcPts val="800"/>
              </a:spcBef>
              <a:spcAft>
                <a:spcPts val="400"/>
              </a:spcAft>
            </a:pPr>
            <a:r>
              <a:rPr sz="2800" b="0">
                <a:solidFill>
                  <a:srgbClr val="EEEEEE"/>
                </a:solidFill>
                <a:latin typeface="Times New Roman"/>
              </a:rPr>
              <a:t>When simpler models suffice — logistic baselines under temporal validation</a:t>
            </a:r>
          </a:p>
          <a:p>
            <a:pPr algn="ctr">
              <a:spcBef>
                <a:spcPts val="600"/>
              </a:spcBef>
              <a:spcAft>
                <a:spcPts val="200"/>
              </a:spcAft>
            </a:pPr>
            <a:r>
              <a:rPr sz="3600" b="0">
                <a:solidFill>
                  <a:srgbClr val="FFFFFF"/>
                </a:solidFill>
                <a:latin typeface="Times New Roman"/>
              </a:rPr>
              <a:t>Addy Cruz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</a:pPr>
            <a:r>
              <a:rPr sz="3000" b="0">
                <a:solidFill>
                  <a:srgbClr val="EEEEEE"/>
                </a:solidFill>
                <a:latin typeface="Times New Roman"/>
              </a:rPr>
              <a:t>Advisor: Dr. Liang Jingsai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</a:pPr>
            <a:r>
              <a:rPr sz="3000" b="0">
                <a:solidFill>
                  <a:srgbClr val="EEEEEE"/>
                </a:solidFill>
                <a:latin typeface="Times New Roman"/>
              </a:rPr>
              <a:t>DATA-470 Capstone  |  Data Science  |  Westminster University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B74C6F1-925D-8A29-CD12-63A64C8679DB}"/>
              </a:ext>
            </a:extLst>
          </p:cNvPr>
          <p:cNvSpPr txBox="1"/>
          <p:nvPr/>
        </p:nvSpPr>
        <p:spPr>
          <a:xfrm>
            <a:off x="2800882" y="4351347"/>
            <a:ext cx="6101922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B3A5C"/>
                </a:solidFill>
                <a:latin typeface="Times New Roman"/>
              </a:rPr>
              <a:t>PROBLEM: WHY SIMPLICITY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00DE22A-6181-35D9-EBB9-EFE7E6BD8917}"/>
              </a:ext>
            </a:extLst>
          </p:cNvPr>
          <p:cNvSpPr txBox="1"/>
          <p:nvPr/>
        </p:nvSpPr>
        <p:spPr>
          <a:xfrm>
            <a:off x="2800071" y="13489788"/>
            <a:ext cx="6101922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B3A5C"/>
                </a:solidFill>
                <a:latin typeface="Times New Roman"/>
              </a:rPr>
              <a:t>DATA &amp; SCOPE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86AF0CF-3979-D60E-1162-FC5150B22D0A}"/>
              </a:ext>
            </a:extLst>
          </p:cNvPr>
          <p:cNvSpPr txBox="1"/>
          <p:nvPr/>
        </p:nvSpPr>
        <p:spPr>
          <a:xfrm>
            <a:off x="2800033" y="22528173"/>
            <a:ext cx="6101922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B3A5C"/>
                </a:solidFill>
                <a:latin typeface="Times New Roman"/>
              </a:rPr>
              <a:t>BASELINES (LR VS. LGBM)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0D68B4A-EAF1-926C-0D43-0D0022ADB8A9}"/>
              </a:ext>
            </a:extLst>
          </p:cNvPr>
          <p:cNvSpPr txBox="1"/>
          <p:nvPr/>
        </p:nvSpPr>
        <p:spPr>
          <a:xfrm>
            <a:off x="17078588" y="4351346"/>
            <a:ext cx="6101922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B3A5C"/>
                </a:solidFill>
                <a:latin typeface="Times New Roman"/>
              </a:rPr>
              <a:t>METRICS, FLOW &amp; VALIDATION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2CA61A-3259-1D47-4DD3-96FFB53ACDCA}"/>
              </a:ext>
            </a:extLst>
          </p:cNvPr>
          <p:cNvSpPr txBox="1"/>
          <p:nvPr/>
        </p:nvSpPr>
        <p:spPr>
          <a:xfrm>
            <a:off x="31857560" y="4351347"/>
            <a:ext cx="6101922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B3A5C"/>
                </a:solidFill>
                <a:latin typeface="Times New Roman"/>
              </a:rPr>
              <a:t>TAKEAWAY: LR VS. BOOSTING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E3E9B07-0CF6-450C-147D-1F79DCEFF120}"/>
              </a:ext>
            </a:extLst>
          </p:cNvPr>
          <p:cNvSpPr txBox="1"/>
          <p:nvPr/>
        </p:nvSpPr>
        <p:spPr>
          <a:xfrm>
            <a:off x="31857523" y="20093479"/>
            <a:ext cx="6101922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B3A5C"/>
                </a:solidFill>
                <a:latin typeface="Times New Roman"/>
              </a:rPr>
              <a:t>LIMITS &amp; WHEN TO BOOST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BD9573E-355A-6610-B1A2-6ACF125E93FB}"/>
              </a:ext>
            </a:extLst>
          </p:cNvPr>
          <p:cNvSpPr txBox="1"/>
          <p:nvPr/>
        </p:nvSpPr>
        <p:spPr>
          <a:xfrm>
            <a:off x="200063" y="5451717"/>
            <a:ext cx="11503624" cy="42673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107000"/>
              </a:lnSpc>
              <a:spcBef>
                <a:spcPts val="0"/>
              </a:spcBef>
              <a:spcAft>
                <a:spcPts val="500"/>
              </a:spcAft>
            </a:pPr>
            <a:r>
              <a:rPr sz="2700">
                <a:solidFill>
                  <a:srgbClr val="333333"/>
                </a:solidFill>
                <a:latin typeface="Times New Roman"/>
              </a:rPr>
              <a:t>Inventory and service decisions need transparent inputs and stable scoring—not only leaderboard accuracy. Imbalance and leakage risk mean complex models can look strong under the wrong split.</a:t>
            </a:r>
            <a:endParaRPr lang="en-US" dirty="0" err="1"/>
          </a:p>
          <a:p>
            <a:pPr algn="l">
              <a:lnSpc>
                <a:spcPct val="107000"/>
              </a:lnSpc>
              <a:spcBef>
                <a:spcPts val="500"/>
              </a:spcBef>
              <a:spcAft>
                <a:spcPts val="500"/>
              </a:spcAft>
            </a:pPr>
            <a:r>
              <a:rPr sz="2700">
                <a:solidFill>
                  <a:srgbClr val="333333"/>
                </a:solidFill>
                <a:latin typeface="Times New Roman"/>
              </a:rPr>
              <a:t>This work scores backorder risk at order time with pre-fulfillment predictors only, withholding post-order fields so evaluation matches what operations can actually use.</a:t>
            </a:r>
          </a:p>
          <a:p>
            <a:pPr algn="l">
              <a:lnSpc>
                <a:spcPct val="107000"/>
              </a:lnSpc>
              <a:spcBef>
                <a:spcPts val="500"/>
              </a:spcBef>
              <a:spcAft>
                <a:spcPts val="500"/>
              </a:spcAft>
            </a:pPr>
            <a:r>
              <a:rPr sz="2700">
                <a:solidFill>
                  <a:srgbClr val="333333"/>
                </a:solidFill>
                <a:latin typeface="Times New Roman"/>
              </a:rPr>
              <a:t>The outcome is highly imbalanced (~3.4% positives). The poster compares a penalized logistic baseline to gradient boosting under a temporal stress test—the evaluation design matters as much as the algorithm.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31B7319-98D0-3B3F-34CA-AE9EC7725321}"/>
              </a:ext>
            </a:extLst>
          </p:cNvPr>
          <p:cNvSpPr txBox="1"/>
          <p:nvPr/>
        </p:nvSpPr>
        <p:spPr>
          <a:xfrm>
            <a:off x="199970" y="14523118"/>
            <a:ext cx="11503624" cy="780276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107000"/>
              </a:lnSpc>
              <a:spcBef>
                <a:spcPts val="0"/>
              </a:spcBef>
              <a:spcAft>
                <a:spcPts val="500"/>
              </a:spcAft>
            </a:pPr>
            <a:r>
              <a:rPr sz="2700">
                <a:solidFill>
                  <a:srgbClr val="333333"/>
                </a:solidFill>
                <a:latin typeface="Times New Roman"/>
              </a:rPr>
              <a:t>Data come from the SAP Supply Chain BigQuery release (Kaggle): sales, delivery, billing, inventory, purchasing, and master tables, aligned at order-line grain.</a:t>
            </a:r>
            <a:endParaRPr lang="en-US"/>
          </a:p>
          <a:p>
            <a:pPr algn="l">
              <a:lnSpc>
                <a:spcPct val="107000"/>
              </a:lnSpc>
              <a:spcBef>
                <a:spcPts val="500"/>
              </a:spcBef>
              <a:spcAft>
                <a:spcPts val="500"/>
              </a:spcAft>
            </a:pPr>
            <a:r>
              <a:rPr sz="2700">
                <a:solidFill>
                  <a:srgbClr val="333333"/>
                </a:solidFill>
                <a:latin typeface="Times New Roman"/>
              </a:rPr>
              <a:t>After labeling and filtering, the analysis uses 31,177 order lines from 52,118 source rows (59.8% coverage), with 3.38% positives (1,054 backorders).</a:t>
            </a:r>
          </a:p>
          <a:p>
            <a:pPr algn="l">
              <a:lnSpc>
                <a:spcPct val="107000"/>
              </a:lnSpc>
              <a:spcBef>
                <a:spcPts val="500"/>
              </a:spcBef>
              <a:spcAft>
                <a:spcPts val="500"/>
              </a:spcAft>
            </a:pPr>
            <a:r>
              <a:rPr sz="2700">
                <a:solidFill>
                  <a:srgbClr val="333333"/>
                </a:solidFill>
                <a:latin typeface="Times New Roman"/>
              </a:rPr>
              <a:t>Thirteen order-time predictors and seven missingness indicators are retained; twenty-three post-order attributes are withheld to enforce a leakage-safe contract. The feature set is tabular and linear-friendly—a strong reason to start with a regularized logistic model before adding boosting.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D718E1C-9D60-E523-ACA2-90A89FB398B1}"/>
              </a:ext>
            </a:extLst>
          </p:cNvPr>
          <p:cNvSpPr txBox="1"/>
          <p:nvPr/>
        </p:nvSpPr>
        <p:spPr>
          <a:xfrm>
            <a:off x="199933" y="23561503"/>
            <a:ext cx="11503624" cy="90034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>
                <a:solidFill>
                  <a:srgbClr val="1B3A5C"/>
                </a:solidFill>
                <a:latin typeface="Times New Roman"/>
              </a:rPr>
              <a:t>Baseline vs. benchmark</a:t>
            </a:r>
            <a:endParaRPr lang="en-US"/>
          </a:p>
          <a:p>
            <a:pPr algn="l">
              <a:lnSpc>
                <a:spcPct val="107000"/>
              </a:lnSpc>
              <a:spcBef>
                <a:spcPts val="200"/>
              </a:spcBef>
              <a:spcAft>
                <a:spcPts val="1000"/>
              </a:spcAft>
            </a:pPr>
            <a:r>
              <a:rPr sz="2500">
                <a:solidFill>
                  <a:srgbClr val="333333"/>
                </a:solidFill>
                <a:latin typeface="Times New Roman"/>
              </a:rPr>
              <a:t>Binary classification at order-line grain (backorder vs. not). Penalized logistic regression is the default, auditable estimator. LightGBM is a complexity benchmark: nonlinear uplift must earn its place against the temporal test, not only on easier splits.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600"/>
              </a:spcAft>
            </a:pPr>
            <a:r>
              <a:rPr sz="2800" b="1">
                <a:solidFill>
                  <a:srgbClr val="1B3A5C"/>
                </a:solidFill>
                <a:latin typeface="Times New Roman"/>
              </a:rPr>
              <a:t>Validation &amp; Metrics</a:t>
            </a:r>
          </a:p>
          <a:p>
            <a:pPr algn="l">
              <a:lnSpc>
                <a:spcPct val="107000"/>
              </a:lnSpc>
              <a:spcBef>
                <a:spcPts val="200"/>
              </a:spcBef>
              <a:spcAft>
                <a:spcPts val="600"/>
              </a:spcAft>
            </a:pPr>
            <a:r>
              <a:rPr sz="2500">
                <a:solidFill>
                  <a:srgbClr val="333333"/>
                </a:solidFill>
                <a:latin typeface="Times New Roman"/>
              </a:rPr>
              <a:t>Primary generalization assessment uses a temporal holdout (train on earlier periods, test on later periods). A grouped holdout by sales document provides a secondary diagnostic. The decision threshold is set from five-fold stratified out-of-fold scores on the training period.</a:t>
            </a:r>
          </a:p>
          <a:p>
            <a:pPr algn="l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</a:pPr>
            <a:r>
              <a:rPr sz="2500">
                <a:solidFill>
                  <a:srgbClr val="333333"/>
                </a:solidFill>
                <a:latin typeface="Times New Roman"/>
              </a:rPr>
              <a:t>PR-AUC and ROC-AUC describe ranking and discrimination; F1, precision, recall, and confusion patterns describe the operating point under rarity—low F1 on the temporal test does not by itself invalidate strong ROC-AUC.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ADF4AC8-E658-F2D6-20E4-2432528897F8}"/>
              </a:ext>
            </a:extLst>
          </p:cNvPr>
          <p:cNvSpPr txBox="1"/>
          <p:nvPr/>
        </p:nvSpPr>
        <p:spPr>
          <a:xfrm>
            <a:off x="12320376" y="5468382"/>
            <a:ext cx="15888512" cy="270918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/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B3A5C"/>
                </a:solidFill>
                <a:latin typeface="Times New Roman"/>
              </a:rPr>
              <a:t>Evidence: stress splits, lineage, validation (LR vs. LGBM)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C08FA56-FA36-0D71-D1AB-30D85B74C83D}"/>
              </a:ext>
            </a:extLst>
          </p:cNvPr>
          <p:cNvSpPr txBox="1"/>
          <p:nvPr/>
        </p:nvSpPr>
        <p:spPr>
          <a:xfrm>
            <a:off x="28858885" y="5485046"/>
            <a:ext cx="11070397" cy="72022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107000"/>
              </a:lnSpc>
              <a:spcBef>
                <a:spcPts val="0"/>
              </a:spcBef>
              <a:spcAft>
                <a:spcPts val="500"/>
              </a:spcAft>
            </a:pPr>
            <a:r>
              <a:rPr sz="2600">
                <a:solidFill>
                  <a:srgbClr val="333333"/>
                </a:solidFill>
                <a:latin typeface="Times New Roman"/>
              </a:rPr>
              <a:t>Temporal holdout is the honest deployment bar; grouped validation is easier when train and test overlap in calendar time—strong grouped metrics should not be mistaken for robustness under drift.</a:t>
            </a:r>
            <a:endParaRPr lang="en-US"/>
          </a:p>
          <a:p>
            <a:pPr algn="l">
              <a:lnSpc>
                <a:spcPct val="107000"/>
              </a:lnSpc>
              <a:spcBef>
                <a:spcPts val="500"/>
              </a:spcBef>
              <a:spcAft>
                <a:spcPts val="500"/>
              </a:spcAft>
            </a:pPr>
            <a:r>
              <a:rPr sz="2600">
                <a:solidFill>
                  <a:srgbClr val="333333"/>
                </a:solidFill>
                <a:latin typeface="Times New Roman"/>
              </a:rPr>
              <a:t>On the temporal holdout, logistic regression achieves higher PR-AUC than LightGBM (0.19 vs. 0.08); both retain strong ROC-AUC (~0.85). Here boosting did not buy better ranking quality on the split that matters most.</a:t>
            </a:r>
          </a:p>
          <a:p>
            <a:pPr algn="l">
              <a:lnSpc>
                <a:spcPct val="107000"/>
              </a:lnSpc>
              <a:spcBef>
                <a:spcPts val="500"/>
              </a:spcBef>
              <a:spcAft>
                <a:spcPts val="500"/>
              </a:spcAft>
            </a:pPr>
            <a:r>
              <a:rPr sz="2600">
                <a:solidFill>
                  <a:srgbClr val="333333"/>
                </a:solidFill>
                <a:latin typeface="Times New Roman"/>
              </a:rPr>
              <a:t>An auditable linear baseline aligns with threshold policy and review; LightGBM serves as a nonlinear benchmark, not the default operating choice in this study.</a:t>
            </a:r>
          </a:p>
          <a:p>
            <a:pPr algn="l">
              <a:lnSpc>
                <a:spcPct val="107000"/>
              </a:lnSpc>
              <a:spcBef>
                <a:spcPts val="500"/>
              </a:spcBef>
              <a:spcAft>
                <a:spcPts val="500"/>
              </a:spcAft>
            </a:pPr>
            <a:r>
              <a:rPr sz="2600">
                <a:solidFill>
                  <a:srgbClr val="333333"/>
                </a:solidFill>
                <a:latin typeface="Times New Roman"/>
              </a:rPr>
              <a:t>Withholding post-order fields removes leakage and lowers grouped F1 versus a legacy view—evaluation design drives the headline as much as model family. Confusion matrices (row-normalized) show recall at the chosen threshold under extreme imbalance.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0494AC1-BB62-6330-27D6-84084E719030}"/>
              </a:ext>
            </a:extLst>
          </p:cNvPr>
          <p:cNvSpPr txBox="1"/>
          <p:nvPr/>
        </p:nvSpPr>
        <p:spPr>
          <a:xfrm>
            <a:off x="28875748" y="21256697"/>
            <a:ext cx="11053534" cy="113036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1B3A5C"/>
                </a:solidFill>
                <a:latin typeface="Times New Roman"/>
              </a:rPr>
              <a:t>Limitations</a:t>
            </a:r>
            <a:endParaRPr lang="en-US"/>
          </a:p>
          <a:p>
            <a:pPr algn="l">
              <a:lnSpc>
                <a:spcPct val="107000"/>
              </a:lnSpc>
              <a:spcBef>
                <a:spcPts val="200"/>
              </a:spcBef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Times New Roman"/>
              </a:rPr>
              <a:t>The temporal test has very few positives (0.89%; n = 58), so threshold metrics are high-variance. Post-order fields are excluded by design—no causal claims. Time-varying positivity and partial labeling complicate fixed thresholds.</a:t>
            </a:r>
          </a:p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600"/>
              </a:spcAft>
            </a:pPr>
            <a:r>
              <a:rPr sz="3200" b="1">
                <a:solidFill>
                  <a:srgbClr val="1B3A5C"/>
                </a:solidFill>
                <a:latin typeface="Times New Roman"/>
              </a:rPr>
              <a:t>When gradient boosting may still help</a:t>
            </a:r>
          </a:p>
          <a:p>
            <a:pPr algn="l">
              <a:lnSpc>
                <a:spcPct val="107000"/>
              </a:lnSpc>
              <a:spcBef>
                <a:spcPts val="200"/>
              </a:spcBef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Times New Roman"/>
              </a:rPr>
              <a:t>Boosting is worth the added complexity if richer entity histories or interactions produce clear PR-AUC gains on the temporal holdout (not only on grouped splits), or if monitoring cost tradeoffs favor recall. Until then, the simpler model is a defensible default.</a:t>
            </a:r>
          </a:p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600"/>
              </a:spcAft>
            </a:pPr>
            <a:r>
              <a:rPr sz="3200" b="1">
                <a:solidFill>
                  <a:srgbClr val="1B3A5C"/>
                </a:solidFill>
                <a:latin typeface="Times New Roman"/>
              </a:rPr>
              <a:t>Future Work</a:t>
            </a:r>
          </a:p>
          <a:p>
            <a:pPr algn="l">
              <a:lnSpc>
                <a:spcPct val="107000"/>
              </a:lnSpc>
              <a:spcBef>
                <a:spcPts val="200"/>
              </a:spcBef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Times New Roman"/>
              </a:rPr>
              <a:t>Extend the target to shortfall magnitude where labels allow; add entity histories and demand or inventory context as order-time inputs; deploy rolling temporal validation for production monitoring.</a:t>
            </a:r>
          </a:p>
          <a:p>
            <a:pPr algn="l">
              <a:lnSpc>
                <a:spcPct val="106000"/>
              </a:lnSpc>
              <a:spcBef>
                <a:spcPts val="800"/>
              </a:spcBef>
              <a:spcAft>
                <a:spcPts val="400"/>
              </a:spcAft>
            </a:pPr>
            <a:r>
              <a:rPr sz="2200" b="1">
                <a:solidFill>
                  <a:srgbClr val="666666"/>
                </a:solidFill>
                <a:latin typeface="Times New Roman"/>
              </a:rPr>
              <a:t>Data Source</a:t>
            </a:r>
          </a:p>
          <a:p>
            <a:pPr algn="l">
              <a:lnSpc>
                <a:spcPct val="107000"/>
              </a:lnSpc>
              <a:spcBef>
                <a:spcPts val="200"/>
              </a:spcBef>
              <a:spcAft>
                <a:spcPts val="200"/>
              </a:spcAft>
            </a:pPr>
            <a:r>
              <a:rPr sz="2000" b="0">
                <a:solidFill>
                  <a:srgbClr val="888888"/>
                </a:solidFill>
                <a:latin typeface="Times New Roman"/>
              </a:rPr>
              <a:t>SAP Supply Chain Dataset (BigQuery / Kaggle).</a:t>
            </a:r>
          </a:p>
          <a:p>
            <a:pPr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888888"/>
                </a:solidFill>
                <a:latin typeface="Times New Roman"/>
              </a:rPr>
              <a:t>Reproducible ETL and modeling code accompany the project.</a:t>
            </a:r>
          </a:p>
        </p:txBody>
      </p:sp>
      <p:pic>
        <p:nvPicPr>
          <p:cNvPr id="30" name="Picture 29" descr="target_balance_v2_ordert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63" y="9839061"/>
            <a:ext cx="11303624" cy="3395146"/>
          </a:xfrm>
          <a:prstGeom prst="rect">
            <a:avLst/>
          </a:prstGeom>
        </p:spPr>
      </p:pic>
      <p:pic>
        <p:nvPicPr>
          <p:cNvPr id="31" name="Picture 30" descr="showcase_model_comparison_heat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20376" y="6188382"/>
            <a:ext cx="15688512" cy="13135938"/>
          </a:xfrm>
          <a:prstGeom prst="rect">
            <a:avLst/>
          </a:prstGeom>
        </p:spPr>
      </p:pic>
      <p:pic>
        <p:nvPicPr>
          <p:cNvPr id="32" name="Picture 31" descr="01_data_and_featur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10376" y="20112476"/>
            <a:ext cx="7804256" cy="12347783"/>
          </a:xfrm>
          <a:prstGeom prst="rect">
            <a:avLst/>
          </a:prstGeom>
        </p:spPr>
      </p:pic>
      <p:pic>
        <p:nvPicPr>
          <p:cNvPr id="33" name="Picture 32" descr="02_validation_and_model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314632" y="20112476"/>
            <a:ext cx="7804256" cy="12347783"/>
          </a:xfrm>
          <a:prstGeom prst="rect">
            <a:avLst/>
          </a:prstGeom>
        </p:spPr>
      </p:pic>
      <p:pic>
        <p:nvPicPr>
          <p:cNvPr id="34" name="Picture 33" descr="classification_confusion_matrices_v2_ordertim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958885" y="12907326"/>
            <a:ext cx="10870397" cy="6862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180</Words>
  <Application>Microsoft Macintosh PowerPoint</Application>
  <PresentationFormat>Custom</PresentationFormat>
  <Paragraphs>68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Shawn Coon</cp:lastModifiedBy>
  <cp:revision>231</cp:revision>
  <dcterms:created xsi:type="dcterms:W3CDTF">2024-02-07T19:57:17Z</dcterms:created>
  <dcterms:modified xsi:type="dcterms:W3CDTF">2025-03-12T19:34:11Z</dcterms:modified>
</cp:coreProperties>
</file>