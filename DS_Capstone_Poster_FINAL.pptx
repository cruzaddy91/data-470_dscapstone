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40233600" cy="329184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1981D"/>
    <a:srgbClr val="C48545"/>
    <a:srgbClr val="AA6A2C"/>
    <a:srgbClr val="F5C61D"/>
    <a:srgbClr val="A468F2"/>
    <a:srgbClr val="926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33A9D9-3A47-1704-9FBE-EC462113F3D6}" v="35" dt="2024-03-20T19:43:11.8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9976" autoAdjust="0"/>
    <p:restoredTop sz="94660"/>
  </p:normalViewPr>
  <p:slideViewPr>
    <p:cSldViewPr snapToGrid="0">
      <p:cViewPr>
        <p:scale>
          <a:sx n="36" d="100"/>
          <a:sy n="36" d="100"/>
        </p:scale>
        <p:origin x="2488" y="-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29200" y="5387342"/>
            <a:ext cx="30175200" cy="1146048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29200" y="17289782"/>
            <a:ext cx="30175200" cy="7947658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5105" y="8206745"/>
            <a:ext cx="34701480" cy="136931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45105" y="22029425"/>
            <a:ext cx="34701480" cy="720089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766060" y="8763000"/>
            <a:ext cx="1709928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368260" y="8763000"/>
            <a:ext cx="1709928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300" y="1752603"/>
            <a:ext cx="3470148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1302" y="8069582"/>
            <a:ext cx="17020697" cy="39547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771302" y="12024360"/>
            <a:ext cx="1702069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368260" y="8069582"/>
            <a:ext cx="17104520" cy="39547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368260" y="12024360"/>
            <a:ext cx="17104520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302" y="2194560"/>
            <a:ext cx="12976382" cy="768096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04520" y="4739642"/>
            <a:ext cx="20368260" cy="233934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71302" y="9875520"/>
            <a:ext cx="12976382" cy="1829562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302" y="2194560"/>
            <a:ext cx="12976382" cy="768096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104520" y="4739642"/>
            <a:ext cx="20368260" cy="23393400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71302" y="9875520"/>
            <a:ext cx="12976382" cy="1829562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8792170" y="1752600"/>
            <a:ext cx="867537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766060" y="1752600"/>
            <a:ext cx="2552319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66060" y="1752603"/>
            <a:ext cx="3470148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66060" y="8763000"/>
            <a:ext cx="3470148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66060" y="30510482"/>
            <a:ext cx="90525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327380" y="30510482"/>
            <a:ext cx="1357884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8414980" y="30510482"/>
            <a:ext cx="90525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D190A34-4461-9411-58BF-819136D31281}"/>
              </a:ext>
            </a:extLst>
          </p:cNvPr>
          <p:cNvSpPr/>
          <p:nvPr/>
        </p:nvSpPr>
        <p:spPr>
          <a:xfrm>
            <a:off x="0" y="0"/>
            <a:ext cx="40258530" cy="4006621"/>
          </a:xfrm>
          <a:prstGeom prst="rect">
            <a:avLst/>
          </a:prstGeom>
          <a:solidFill>
            <a:srgbClr val="A468F2">
              <a:alpha val="6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purple and black logo&#10;&#10;Description automatically generated">
            <a:extLst>
              <a:ext uri="{FF2B5EF4-FFF2-40B4-BE49-F238E27FC236}">
                <a16:creationId xmlns:a16="http://schemas.microsoft.com/office/drawing/2014/main" id="{6E49A1A9-724E-5647-B6EC-54D0DD9F3E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28" y="501562"/>
            <a:ext cx="5058802" cy="3300495"/>
          </a:xfrm>
          <a:prstGeom prst="rect">
            <a:avLst/>
          </a:prstGeom>
        </p:spPr>
      </p:pic>
      <p:pic>
        <p:nvPicPr>
          <p:cNvPr id="7" name="Picture 6" descr="A purple and black logo&#10;&#10;Description automatically generated">
            <a:extLst>
              <a:ext uri="{FF2B5EF4-FFF2-40B4-BE49-F238E27FC236}">
                <a16:creationId xmlns:a16="http://schemas.microsoft.com/office/drawing/2014/main" id="{0BA11062-6B24-DC3C-7DA3-C4FAB9D70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96536" y="501561"/>
            <a:ext cx="5058802" cy="330049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0A39D7B-8B39-B1FB-A4C6-71CA6D36B1EB}"/>
              </a:ext>
            </a:extLst>
          </p:cNvPr>
          <p:cNvSpPr txBox="1"/>
          <p:nvPr/>
        </p:nvSpPr>
        <p:spPr>
          <a:xfrm>
            <a:off x="4419600" y="233366"/>
            <a:ext cx="31089600" cy="466610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sz="6600" b="1" dirty="0">
                <a:solidFill>
                  <a:srgbClr val="000000"/>
                </a:solidFill>
                <a:latin typeface="Times New Roman"/>
              </a:rPr>
              <a:t>Predictive Supply Chain Analytics</a:t>
            </a:r>
            <a:r>
              <a:rPr lang="en-US" sz="6600" b="1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6600" b="1" dirty="0">
                <a:solidFill>
                  <a:srgbClr val="000000"/>
                </a:solidFill>
                <a:latin typeface="Times New Roman"/>
              </a:rPr>
              <a:t>for Backorder Risk</a:t>
            </a:r>
          </a:p>
          <a:p>
            <a:pPr algn="ctr">
              <a:lnSpc>
                <a:spcPct val="114000"/>
              </a:lnSpc>
              <a:spcBef>
                <a:spcPts val="800"/>
              </a:spcBef>
              <a:spcAft>
                <a:spcPts val="400"/>
              </a:spcAft>
            </a:pPr>
            <a:r>
              <a:rPr sz="3600" b="0" dirty="0">
                <a:latin typeface="Times New Roman"/>
              </a:rPr>
              <a:t>Temporal holdout: logistic (LR) vs. LightGBM (LGBM)</a:t>
            </a:r>
          </a:p>
          <a:p>
            <a:pPr algn="ctr">
              <a:spcBef>
                <a:spcPts val="600"/>
              </a:spcBef>
              <a:spcAft>
                <a:spcPts val="400"/>
              </a:spcAft>
            </a:pPr>
            <a:r>
              <a:rPr sz="3600" b="0" dirty="0">
                <a:latin typeface="Times New Roman"/>
              </a:rPr>
              <a:t>Addy Cruz</a:t>
            </a:r>
          </a:p>
          <a:p>
            <a:pPr algn="ctr">
              <a:spcBef>
                <a:spcPts val="400"/>
              </a:spcBef>
              <a:spcAft>
                <a:spcPts val="400"/>
              </a:spcAft>
            </a:pPr>
            <a:r>
              <a:rPr sz="3600" b="0" dirty="0">
                <a:latin typeface="Times New Roman"/>
              </a:rPr>
              <a:t>Advisor: Dr. Liang Jingsai</a:t>
            </a:r>
          </a:p>
          <a:p>
            <a:pPr algn="ctr">
              <a:spcBef>
                <a:spcPts val="400"/>
              </a:spcBef>
              <a:spcAft>
                <a:spcPts val="400"/>
              </a:spcAft>
            </a:pPr>
            <a:r>
              <a:rPr sz="3600" b="0" dirty="0">
                <a:latin typeface="Times New Roman"/>
              </a:rPr>
              <a:t>DATA-470 Capstone  |  Data Science  |  Westminster University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74C6F1-925D-8A29-CD12-63A64C8679DB}"/>
              </a:ext>
            </a:extLst>
          </p:cNvPr>
          <p:cNvSpPr txBox="1"/>
          <p:nvPr/>
        </p:nvSpPr>
        <p:spPr>
          <a:xfrm>
            <a:off x="2800881" y="4351347"/>
            <a:ext cx="7714717" cy="10496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56000" tIns="48000" rIns="56000" bIns="2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0" b="1" dirty="0">
                <a:solidFill>
                  <a:srgbClr val="000000"/>
                </a:solidFill>
                <a:latin typeface="Times New Roman"/>
              </a:rPr>
              <a:t>Motivation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0DE22A-6181-35D9-EBB9-EFE7E6BD8917}"/>
              </a:ext>
            </a:extLst>
          </p:cNvPr>
          <p:cNvSpPr txBox="1"/>
          <p:nvPr/>
        </p:nvSpPr>
        <p:spPr>
          <a:xfrm>
            <a:off x="2275569" y="18400990"/>
            <a:ext cx="6101922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56000" tIns="48000" rIns="56000" bIns="2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0" b="1" dirty="0">
                <a:solidFill>
                  <a:srgbClr val="000000"/>
                </a:solidFill>
                <a:latin typeface="Times New Roman"/>
              </a:rPr>
              <a:t>Data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6AF0CF-3979-D60E-1162-FC5150B22D0A}"/>
              </a:ext>
            </a:extLst>
          </p:cNvPr>
          <p:cNvSpPr txBox="1"/>
          <p:nvPr/>
        </p:nvSpPr>
        <p:spPr>
          <a:xfrm>
            <a:off x="2093961" y="24507426"/>
            <a:ext cx="7715567" cy="8287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56000" tIns="48000" rIns="56000" bIns="2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0" b="1" dirty="0">
                <a:solidFill>
                  <a:srgbClr val="000000"/>
                </a:solidFill>
                <a:latin typeface="Times New Roman"/>
              </a:rPr>
              <a:t>Models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D68B4A-EAF1-926C-0D43-0D0022ADB8A9}"/>
              </a:ext>
            </a:extLst>
          </p:cNvPr>
          <p:cNvSpPr txBox="1"/>
          <p:nvPr/>
        </p:nvSpPr>
        <p:spPr>
          <a:xfrm>
            <a:off x="17078588" y="4351346"/>
            <a:ext cx="9648172" cy="11170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56000" tIns="48000" rIns="56000" bIns="2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0000"/>
                </a:solidFill>
                <a:latin typeface="Times New Roman"/>
              </a:rPr>
              <a:t>Validation &amp; metrics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2CA61A-3259-1D47-4DD3-96FFB53ACDCA}"/>
              </a:ext>
            </a:extLst>
          </p:cNvPr>
          <p:cNvSpPr txBox="1"/>
          <p:nvPr/>
        </p:nvSpPr>
        <p:spPr>
          <a:xfrm>
            <a:off x="30002863" y="4490533"/>
            <a:ext cx="8782440" cy="57977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56000" tIns="48000" rIns="56000" bIns="2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0" b="1" dirty="0">
                <a:solidFill>
                  <a:srgbClr val="000000"/>
                </a:solidFill>
                <a:latin typeface="Times New Roman"/>
              </a:rPr>
              <a:t>Results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E3E9B07-0CF6-450C-147D-1F79DCEFF120}"/>
              </a:ext>
            </a:extLst>
          </p:cNvPr>
          <p:cNvSpPr txBox="1"/>
          <p:nvPr/>
        </p:nvSpPr>
        <p:spPr>
          <a:xfrm>
            <a:off x="30307644" y="14349636"/>
            <a:ext cx="8172877" cy="1144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56000" tIns="48000" rIns="56000" bIns="2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0" b="1" dirty="0">
                <a:solidFill>
                  <a:srgbClr val="000000"/>
                </a:solidFill>
                <a:latin typeface="Times New Roman"/>
              </a:rPr>
              <a:t>Limits &amp; next steps</a:t>
            </a:r>
            <a:r>
              <a:rPr lang="en-US" sz="4800" b="1" dirty="0">
                <a:solidFill>
                  <a:srgbClr val="000000"/>
                </a:solidFill>
                <a:latin typeface="Times New Roman"/>
              </a:rPr>
              <a:t>:</a:t>
            </a:r>
            <a:r>
              <a:rPr sz="4800" b="1" dirty="0">
                <a:solidFill>
                  <a:srgbClr val="000000"/>
                </a:solidFill>
                <a:latin typeface="Times New Roman"/>
              </a:rPr>
              <a:t> when to boost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D9573E-355A-6610-B1A2-6ACF125E93FB}"/>
              </a:ext>
            </a:extLst>
          </p:cNvPr>
          <p:cNvSpPr txBox="1"/>
          <p:nvPr/>
        </p:nvSpPr>
        <p:spPr>
          <a:xfrm>
            <a:off x="200063" y="5451717"/>
            <a:ext cx="11503624" cy="46661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rot="0" spcFirstLastPara="0" vertOverflow="overflow" horzOverflow="overflow" vert="horz" wrap="square" lIns="22000" tIns="22000" rIns="22000" bIns="2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457200" indent="-457200"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Font typeface="Wingdings" pitchFamily="2" charset="2"/>
              <a:buChar char="Ø"/>
            </a:pPr>
            <a:r>
              <a:rPr sz="3200" dirty="0">
                <a:solidFill>
                  <a:srgbClr val="333333"/>
                </a:solidFill>
                <a:latin typeface="Times New Roman"/>
              </a:rPr>
              <a:t>Imbalance + leakage: complex models can look best on the wrong split—need evaluation that matches deployment, not a leaderboard.</a:t>
            </a:r>
            <a:endParaRPr lang="en-US" sz="3200" dirty="0"/>
          </a:p>
          <a:p>
            <a:pPr marL="457200" indent="-457200" algn="l">
              <a:lnSpc>
                <a:spcPct val="114000"/>
              </a:lnSpc>
              <a:spcBef>
                <a:spcPts val="400"/>
              </a:spcBef>
              <a:spcAft>
                <a:spcPts val="400"/>
              </a:spcAft>
              <a:buFont typeface="Wingdings" pitchFamily="2" charset="2"/>
              <a:buChar char="Ø"/>
            </a:pPr>
            <a:r>
              <a:rPr sz="3200" dirty="0">
                <a:solidFill>
                  <a:srgbClr val="333333"/>
                </a:solidFill>
                <a:latin typeface="Times New Roman"/>
              </a:rPr>
              <a:t>Order-time (pre-fulfillment) features only; post-order fields dropped—leakage-safe, deployable input set.</a:t>
            </a:r>
          </a:p>
          <a:p>
            <a:pPr marL="457200" indent="-457200" algn="l">
              <a:lnSpc>
                <a:spcPct val="114000"/>
              </a:lnSpc>
              <a:spcBef>
                <a:spcPts val="400"/>
              </a:spcBef>
              <a:spcAft>
                <a:spcPts val="400"/>
              </a:spcAft>
              <a:buFont typeface="Wingdings" pitchFamily="2" charset="2"/>
              <a:buChar char="Ø"/>
            </a:pPr>
            <a:r>
              <a:rPr sz="3200" dirty="0">
                <a:solidFill>
                  <a:srgbClr val="333333"/>
                </a:solidFill>
                <a:latin typeface="Times New Roman"/>
              </a:rPr>
              <a:t>Rare event (~3.4% pos.). Regularized LR vs. LGBM: temporal holdout, not an easy random split, is the real test.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1B7319-98D0-3B3F-34CA-AE9EC7725321}"/>
              </a:ext>
            </a:extLst>
          </p:cNvPr>
          <p:cNvSpPr txBox="1"/>
          <p:nvPr/>
        </p:nvSpPr>
        <p:spPr>
          <a:xfrm>
            <a:off x="149892" y="19336330"/>
            <a:ext cx="11503624" cy="45099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rot="0" spcFirstLastPara="0" vertOverflow="overflow" horzOverflow="overflow" vert="horz" wrap="square" lIns="22000" tIns="22000" rIns="22000" bIns="2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457200" indent="-457200"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Font typeface="Wingdings" pitchFamily="2" charset="2"/>
              <a:buChar char="Ø"/>
            </a:pPr>
            <a:r>
              <a:rPr sz="3200" b="0" dirty="0">
                <a:solidFill>
                  <a:srgbClr val="333333"/>
                </a:solidFill>
                <a:latin typeface="Times New Roman"/>
              </a:rPr>
              <a:t>SAP Supply Chain (</a:t>
            </a:r>
            <a:r>
              <a:rPr sz="3200" b="0" dirty="0" err="1">
                <a:solidFill>
                  <a:srgbClr val="333333"/>
                </a:solidFill>
                <a:latin typeface="Times New Roman"/>
              </a:rPr>
              <a:t>BigQuery</a:t>
            </a:r>
            <a:r>
              <a:rPr sz="3200" b="0" dirty="0">
                <a:solidFill>
                  <a:srgbClr val="333333"/>
                </a:solidFill>
                <a:latin typeface="Times New Roman"/>
              </a:rPr>
              <a:t>/Kaggle): sales … master—order-line.</a:t>
            </a:r>
            <a:endParaRPr lang="en-US" dirty="0"/>
          </a:p>
          <a:p>
            <a:pPr marL="457200" indent="-457200" algn="l">
              <a:lnSpc>
                <a:spcPct val="114000"/>
              </a:lnSpc>
              <a:spcBef>
                <a:spcPts val="400"/>
              </a:spcBef>
              <a:spcAft>
                <a:spcPts val="400"/>
              </a:spcAft>
              <a:buFont typeface="Wingdings" pitchFamily="2" charset="2"/>
              <a:buChar char="Ø"/>
            </a:pPr>
            <a:r>
              <a:rPr sz="3200" dirty="0">
                <a:solidFill>
                  <a:srgbClr val="333333"/>
                </a:solidFill>
                <a:latin typeface="Times New Roman"/>
              </a:rPr>
              <a:t>N = 31,177 lines (from 52,118 rows; 59.8% coverage); 3.38% pos. (1,054 backorders).</a:t>
            </a:r>
          </a:p>
          <a:p>
            <a:pPr marL="457200" indent="-457200" algn="l">
              <a:lnSpc>
                <a:spcPct val="114000"/>
              </a:lnSpc>
              <a:spcBef>
                <a:spcPts val="400"/>
              </a:spcBef>
              <a:spcAft>
                <a:spcPts val="400"/>
              </a:spcAft>
              <a:buFont typeface="Wingdings" pitchFamily="2" charset="2"/>
              <a:buChar char="Ø"/>
            </a:pPr>
            <a:r>
              <a:rPr sz="3200" dirty="0">
                <a:solidFill>
                  <a:srgbClr val="333333"/>
                </a:solidFill>
                <a:latin typeface="Times New Roman"/>
              </a:rPr>
              <a:t>13 order-time + 7 missingness; 23 post-order features withheld. Tabular → LR first, LGBM as check.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718E1C-9D60-E523-ACA2-90A89FB398B1}"/>
              </a:ext>
            </a:extLst>
          </p:cNvPr>
          <p:cNvSpPr txBox="1"/>
          <p:nvPr/>
        </p:nvSpPr>
        <p:spPr>
          <a:xfrm>
            <a:off x="199933" y="25450800"/>
            <a:ext cx="11503624" cy="71141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rot="0" spcFirstLastPara="0" vertOverflow="overflow" horzOverflow="overflow" vert="horz" wrap="square" lIns="22000" tIns="22000" rIns="22000" bIns="2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dirty="0">
                <a:solidFill>
                  <a:srgbClr val="1B3A5C"/>
                </a:solidFill>
                <a:latin typeface="Times New Roman"/>
              </a:rPr>
              <a:t>Task</a:t>
            </a:r>
            <a:endParaRPr lang="en-US" dirty="0"/>
          </a:p>
          <a:p>
            <a:pPr marL="457200" indent="-457200" algn="l">
              <a:lnSpc>
                <a:spcPct val="114000"/>
              </a:lnSpc>
              <a:spcBef>
                <a:spcPts val="200"/>
              </a:spcBef>
              <a:spcAft>
                <a:spcPts val="1000"/>
              </a:spcAft>
              <a:buFont typeface="Wingdings" pitchFamily="2" charset="2"/>
              <a:buChar char="Ø"/>
            </a:pPr>
            <a:r>
              <a:rPr sz="2800" dirty="0">
                <a:solidFill>
                  <a:srgbClr val="333333"/>
                </a:solidFill>
                <a:latin typeface="Times New Roman"/>
              </a:rPr>
              <a:t>Line-level backorder: penalized LR (default) vs. LGBM. Nonlinear gain must show on the temporal test—not only a grouped time-overlap split.</a:t>
            </a:r>
          </a:p>
          <a:p>
            <a:pPr algn="ctr">
              <a:lnSpc>
                <a:spcPct val="114000"/>
              </a:lnSpc>
              <a:spcBef>
                <a:spcPts val="800"/>
              </a:spcBef>
              <a:spcAft>
                <a:spcPts val="600"/>
              </a:spcAft>
            </a:pPr>
            <a:r>
              <a:rPr sz="3200" b="1" dirty="0">
                <a:solidFill>
                  <a:srgbClr val="1B3A5C"/>
                </a:solidFill>
                <a:latin typeface="Times New Roman"/>
              </a:rPr>
              <a:t>Splits &amp; metrics</a:t>
            </a:r>
          </a:p>
          <a:p>
            <a:pPr marL="457200" indent="-457200" algn="l">
              <a:lnSpc>
                <a:spcPct val="114000"/>
              </a:lnSpc>
              <a:spcBef>
                <a:spcPts val="200"/>
              </a:spcBef>
              <a:spcAft>
                <a:spcPts val="600"/>
              </a:spcAft>
              <a:buFont typeface="Wingdings" pitchFamily="2" charset="2"/>
              <a:buChar char="Ø"/>
            </a:pPr>
            <a:r>
              <a:rPr sz="2800" dirty="0">
                <a:solidFill>
                  <a:srgbClr val="333333"/>
                </a:solidFill>
                <a:latin typeface="Times New Roman"/>
              </a:rPr>
              <a:t>Primary: temporal (train early → test late). Secondary: grouped by document. Threshold: 5-fold stratified OOF on train.</a:t>
            </a:r>
          </a:p>
          <a:p>
            <a:pPr marL="457200" indent="-457200" algn="l">
              <a:lnSpc>
                <a:spcPct val="114000"/>
              </a:lnSpc>
              <a:spcBef>
                <a:spcPts val="400"/>
              </a:spcBef>
              <a:spcAft>
                <a:spcPts val="400"/>
              </a:spcAft>
              <a:buFont typeface="Wingdings" pitchFamily="2" charset="2"/>
              <a:buChar char="Ø"/>
            </a:pPr>
            <a:r>
              <a:rPr sz="2800" dirty="0">
                <a:solidFill>
                  <a:srgbClr val="333333"/>
                </a:solidFill>
                <a:latin typeface="Times New Roman"/>
              </a:rPr>
              <a:t>PR-AUC / ROC-AUC: rank quality. F1, P, R, confusion: rare-event operating point. Low temporal F1 with strong ROC is possible.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DF4AC8-E658-F2D6-20E4-2432528897F8}"/>
              </a:ext>
            </a:extLst>
          </p:cNvPr>
          <p:cNvSpPr txBox="1"/>
          <p:nvPr/>
        </p:nvSpPr>
        <p:spPr>
          <a:xfrm>
            <a:off x="12320376" y="5401034"/>
            <a:ext cx="15888512" cy="271592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rot="0" spcFirstLastPara="0" vertOverflow="overflow" horzOverflow="overflow" vert="horz" wrap="square" lIns="22000" tIns="22000" rIns="22000" bIns="2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u="sng" dirty="0">
                <a:solidFill>
                  <a:srgbClr val="1B3A5C"/>
                </a:solidFill>
                <a:latin typeface="Times New Roman"/>
              </a:rPr>
              <a:t>What the figures show: time-aware splits, feature lineage, LR vs. LGBM</a:t>
            </a:r>
            <a:r>
              <a:rPr lang="en-US" sz="4000" b="1" u="sng" dirty="0">
                <a:solidFill>
                  <a:srgbClr val="1B3A5C"/>
                </a:solidFill>
                <a:latin typeface="Times New Roman"/>
              </a:rPr>
              <a:t>:</a:t>
            </a:r>
            <a:endParaRPr lang="en-US" u="sng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08FA56-FA36-0D71-D1AB-30D85B74C83D}"/>
              </a:ext>
            </a:extLst>
          </p:cNvPr>
          <p:cNvSpPr txBox="1"/>
          <p:nvPr/>
        </p:nvSpPr>
        <p:spPr>
          <a:xfrm>
            <a:off x="28858885" y="5451717"/>
            <a:ext cx="11070397" cy="87016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rot="0" spcFirstLastPara="0" vertOverflow="overflow" horzOverflow="overflow" vert="horz" wrap="square" lIns="22000" tIns="22000" rIns="22000" bIns="2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571500" indent="-571500"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Font typeface="Wingdings" pitchFamily="2" charset="2"/>
              <a:buChar char="Ø"/>
            </a:pPr>
            <a:r>
              <a:rPr sz="3600" dirty="0">
                <a:solidFill>
                  <a:srgbClr val="333333"/>
                </a:solidFill>
                <a:latin typeface="Times New Roman"/>
              </a:rPr>
              <a:t>If train/test periods overlap, grouped validation is easy; temporal is the deploy stress test.</a:t>
            </a:r>
            <a:endParaRPr lang="en-US" dirty="0"/>
          </a:p>
          <a:p>
            <a:pPr marL="571500" indent="-571500" algn="l">
              <a:lnSpc>
                <a:spcPct val="114000"/>
              </a:lnSpc>
              <a:spcBef>
                <a:spcPts val="400"/>
              </a:spcBef>
              <a:spcAft>
                <a:spcPts val="400"/>
              </a:spcAft>
              <a:buFont typeface="Wingdings" pitchFamily="2" charset="2"/>
              <a:buChar char="Ø"/>
            </a:pPr>
            <a:r>
              <a:rPr sz="3600" dirty="0">
                <a:solidFill>
                  <a:srgbClr val="333333"/>
                </a:solidFill>
                <a:latin typeface="Times New Roman"/>
              </a:rPr>
              <a:t>Temporal: PR-AUC 0.19 (LR) vs. 0.08 (LGBM); ROC-AUC ~0.85 each—no LGBM ranking edge.</a:t>
            </a:r>
          </a:p>
          <a:p>
            <a:pPr marL="571500" indent="-571500" algn="l">
              <a:lnSpc>
                <a:spcPct val="114000"/>
              </a:lnSpc>
              <a:spcBef>
                <a:spcPts val="400"/>
              </a:spcBef>
              <a:spcAft>
                <a:spcPts val="400"/>
              </a:spcAft>
              <a:buFont typeface="Wingdings" pitchFamily="2" charset="2"/>
              <a:buChar char="Ø"/>
            </a:pPr>
            <a:r>
              <a:rPr sz="3600" dirty="0">
                <a:solidFill>
                  <a:srgbClr val="333333"/>
                </a:solidFill>
                <a:latin typeface="Times New Roman"/>
              </a:rPr>
              <a:t>Ship LR; use LGBM as a complexity benchmark only.</a:t>
            </a:r>
          </a:p>
          <a:p>
            <a:pPr marL="571500" indent="-571500" algn="l">
              <a:lnSpc>
                <a:spcPct val="114000"/>
              </a:lnSpc>
              <a:spcBef>
                <a:spcPts val="400"/>
              </a:spcBef>
              <a:spcAft>
                <a:spcPts val="400"/>
              </a:spcAft>
              <a:buFont typeface="Wingdings" pitchFamily="2" charset="2"/>
              <a:buChar char="Ø"/>
            </a:pPr>
            <a:r>
              <a:rPr sz="3600" dirty="0">
                <a:solidFill>
                  <a:srgbClr val="333333"/>
                </a:solidFill>
                <a:latin typeface="Times New Roman"/>
              </a:rPr>
              <a:t>Turning off post-order fields cuts grouped F1 vs. a leaky view—mostly split/leakage, not model family. CMs/heatmap: recall at one threshold; very few positives.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494AC1-BB62-6330-27D6-84084E719030}"/>
              </a:ext>
            </a:extLst>
          </p:cNvPr>
          <p:cNvSpPr txBox="1"/>
          <p:nvPr/>
        </p:nvSpPr>
        <p:spPr>
          <a:xfrm>
            <a:off x="28875748" y="15493857"/>
            <a:ext cx="11053534" cy="131781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rot="0" spcFirstLastPara="0" vertOverflow="overflow" horzOverflow="overflow" vert="horz" wrap="square" lIns="22000" tIns="22000" rIns="22000" bIns="2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4800" b="1" dirty="0">
                <a:solidFill>
                  <a:srgbClr val="1B3A5C"/>
                </a:solidFill>
                <a:latin typeface="Times New Roman"/>
              </a:rPr>
              <a:t>Limitations:</a:t>
            </a:r>
            <a:endParaRPr lang="en-US" sz="2000" dirty="0"/>
          </a:p>
          <a:p>
            <a:pPr marL="571500" indent="-571500" algn="l">
              <a:lnSpc>
                <a:spcPct val="114000"/>
              </a:lnSpc>
              <a:spcBef>
                <a:spcPts val="200"/>
              </a:spcBef>
              <a:spcAft>
                <a:spcPts val="1000"/>
              </a:spcAft>
              <a:buFont typeface="Wingdings" pitchFamily="2" charset="2"/>
              <a:buChar char="Ø"/>
            </a:pPr>
            <a:r>
              <a:rPr sz="4000" dirty="0">
                <a:solidFill>
                  <a:srgbClr val="333333"/>
                </a:solidFill>
                <a:latin typeface="Times New Roman"/>
              </a:rPr>
              <a:t>Temporal test: only 0.89% pos. (n=58)—F1/precision at a threshold is noisy. No post-order features → no causal story. Drift/label noise: fixed thresholds are fragile.</a:t>
            </a:r>
          </a:p>
          <a:p>
            <a:pPr algn="ctr">
              <a:lnSpc>
                <a:spcPct val="114000"/>
              </a:lnSpc>
              <a:spcBef>
                <a:spcPts val="400"/>
              </a:spcBef>
              <a:spcAft>
                <a:spcPts val="600"/>
              </a:spcAft>
            </a:pPr>
            <a:r>
              <a:rPr sz="4800" b="1" dirty="0">
                <a:solidFill>
                  <a:srgbClr val="1B3A5C"/>
                </a:solidFill>
                <a:latin typeface="Times New Roman"/>
              </a:rPr>
              <a:t>If LGBM is worth it</a:t>
            </a:r>
          </a:p>
          <a:p>
            <a:pPr marL="571500" indent="-571500">
              <a:lnSpc>
                <a:spcPct val="114000"/>
              </a:lnSpc>
              <a:spcBef>
                <a:spcPts val="200"/>
              </a:spcBef>
              <a:spcAft>
                <a:spcPts val="1000"/>
              </a:spcAft>
              <a:buFont typeface="Wingdings" pitchFamily="2" charset="2"/>
              <a:buChar char="Ø"/>
            </a:pPr>
            <a:r>
              <a:rPr sz="4000" dirty="0">
                <a:solidFill>
                  <a:srgbClr val="333333"/>
                </a:solidFill>
                <a:latin typeface="Times New Roman"/>
              </a:rPr>
              <a:t>Only if temporal PR-AUC clearly beats LR (not just on grouped), or business needs recall. Else LR default.</a:t>
            </a:r>
          </a:p>
          <a:p>
            <a:pPr algn="ctr">
              <a:lnSpc>
                <a:spcPct val="114000"/>
              </a:lnSpc>
              <a:spcBef>
                <a:spcPts val="400"/>
              </a:spcBef>
              <a:spcAft>
                <a:spcPts val="600"/>
              </a:spcAft>
            </a:pPr>
            <a:r>
              <a:rPr sz="4800" b="1" dirty="0">
                <a:solidFill>
                  <a:srgbClr val="1B3A5C"/>
                </a:solidFill>
                <a:latin typeface="Times New Roman"/>
              </a:rPr>
              <a:t>Next</a:t>
            </a:r>
          </a:p>
          <a:p>
            <a:pPr marL="571500" indent="-571500" algn="l">
              <a:lnSpc>
                <a:spcPct val="114000"/>
              </a:lnSpc>
              <a:spcBef>
                <a:spcPts val="200"/>
              </a:spcBef>
              <a:spcAft>
                <a:spcPts val="1000"/>
              </a:spcAft>
              <a:buFont typeface="Wingdings" pitchFamily="2" charset="2"/>
              <a:buChar char="Ø"/>
            </a:pPr>
            <a:r>
              <a:rPr sz="4000" dirty="0">
                <a:solidFill>
                  <a:srgbClr val="333333"/>
                </a:solidFill>
                <a:latin typeface="Times New Roman"/>
              </a:rPr>
              <a:t>Magnitude target; entity/demand/inventory signals at order time; rolling retrain / drift checks.</a:t>
            </a:r>
          </a:p>
        </p:txBody>
      </p:sp>
      <p:pic>
        <p:nvPicPr>
          <p:cNvPr id="30" name="Picture 29" descr="target_balance_v2_order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892" y="10670070"/>
            <a:ext cx="11553665" cy="7350802"/>
          </a:xfrm>
          <a:prstGeom prst="rect">
            <a:avLst/>
          </a:prstGeom>
        </p:spPr>
      </p:pic>
      <p:pic>
        <p:nvPicPr>
          <p:cNvPr id="31" name="Picture 30" descr="showcase_model_comparison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20376" y="6949440"/>
            <a:ext cx="15688512" cy="12374879"/>
          </a:xfrm>
          <a:prstGeom prst="rect">
            <a:avLst/>
          </a:prstGeom>
        </p:spPr>
      </p:pic>
      <p:pic>
        <p:nvPicPr>
          <p:cNvPr id="32" name="Picture 31" descr="01_data_and_featur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10376" y="19825882"/>
            <a:ext cx="7804256" cy="12734377"/>
          </a:xfrm>
          <a:prstGeom prst="rect">
            <a:avLst/>
          </a:prstGeom>
        </p:spPr>
      </p:pic>
      <p:pic>
        <p:nvPicPr>
          <p:cNvPr id="33" name="Picture 32" descr="02_validation_and_model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255388" y="20909088"/>
            <a:ext cx="7853499" cy="908342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87231AF-1564-574A-55E0-91CC182703AD}"/>
              </a:ext>
            </a:extLst>
          </p:cNvPr>
          <p:cNvSpPr txBox="1"/>
          <p:nvPr/>
        </p:nvSpPr>
        <p:spPr>
          <a:xfrm>
            <a:off x="28875749" y="30439101"/>
            <a:ext cx="11053534" cy="1552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4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2800" dirty="0">
                <a:solidFill>
                  <a:srgbClr val="888888"/>
                </a:solidFill>
                <a:latin typeface="Times New Roman"/>
              </a:rPr>
              <a:t>SAP Supply Chain (</a:t>
            </a:r>
            <a:r>
              <a:rPr lang="en-US" sz="2800" dirty="0" err="1">
                <a:solidFill>
                  <a:srgbClr val="888888"/>
                </a:solidFill>
                <a:latin typeface="Times New Roman"/>
              </a:rPr>
              <a:t>BigQuery</a:t>
            </a:r>
            <a:r>
              <a:rPr lang="en-US" sz="2800" dirty="0">
                <a:solidFill>
                  <a:srgbClr val="888888"/>
                </a:solidFill>
                <a:latin typeface="Times New Roman"/>
              </a:rPr>
              <a:t> / Kaggle).</a:t>
            </a:r>
          </a:p>
          <a:p>
            <a:pPr>
              <a:lnSpc>
                <a:spcPct val="114000"/>
              </a:lnSpc>
            </a:pPr>
            <a:r>
              <a:rPr lang="en-US" sz="2800" dirty="0">
                <a:solidFill>
                  <a:srgbClr val="888888"/>
                </a:solidFill>
                <a:latin typeface="Times New Roman"/>
              </a:rPr>
              <a:t>Reproducible ETL and modeling code accompany the project. LR = penalized logistic regression; LGBM = LightGBM.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4F4B7A-8354-EBBA-8FD7-5775924C93CD}"/>
              </a:ext>
            </a:extLst>
          </p:cNvPr>
          <p:cNvSpPr txBox="1"/>
          <p:nvPr/>
        </p:nvSpPr>
        <p:spPr>
          <a:xfrm>
            <a:off x="30316076" y="28983427"/>
            <a:ext cx="8172877" cy="1144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56000" tIns="48000" rIns="56000" bIns="2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800" b="1" dirty="0">
                <a:solidFill>
                  <a:srgbClr val="000000"/>
                </a:solidFill>
                <a:latin typeface="Times New Roman"/>
              </a:rPr>
              <a:t>Data Sources:</a:t>
            </a:r>
            <a:endParaRPr sz="4800" b="1" dirty="0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</TotalTime>
  <Words>481</Words>
  <Application>Microsoft Macintosh PowerPoint</Application>
  <PresentationFormat>Custom</PresentationFormat>
  <Paragraphs>36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Wingdings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Addy Cruz</cp:lastModifiedBy>
  <cp:revision>235</cp:revision>
  <dcterms:created xsi:type="dcterms:W3CDTF">2024-02-07T19:57:17Z</dcterms:created>
  <dcterms:modified xsi:type="dcterms:W3CDTF">2026-04-22T04:41:24Z</dcterms:modified>
</cp:coreProperties>
</file>