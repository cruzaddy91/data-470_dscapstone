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0233600" cy="3291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981D"/>
    <a:srgbClr val="C48545"/>
    <a:srgbClr val="AA6A2C"/>
    <a:srgbClr val="F5C61D"/>
    <a:srgbClr val="A468F2"/>
    <a:srgbClr val="9264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33A9D9-3A47-1704-9FBE-EC462113F3D6}" v="35" dt="2024-03-20T19:43:11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6" autoAdjust="0"/>
    <p:restoredTop sz="94660"/>
  </p:normalViewPr>
  <p:slideViewPr>
    <p:cSldViewPr snapToGrid="0">
      <p:cViewPr>
        <p:scale>
          <a:sx n="53" d="100"/>
          <a:sy n="53" d="100"/>
        </p:scale>
        <p:origin x="-2288" y="-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9200" y="5387342"/>
            <a:ext cx="30175200" cy="1146048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29200" y="17289782"/>
            <a:ext cx="30175200" cy="794765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5105" y="8206745"/>
            <a:ext cx="34701480" cy="136931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5105" y="22029425"/>
            <a:ext cx="34701480" cy="720089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66060" y="8763000"/>
            <a:ext cx="170992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368260" y="8763000"/>
            <a:ext cx="170992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300" y="1752603"/>
            <a:ext cx="3470148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1302" y="8069582"/>
            <a:ext cx="17020697" cy="395477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1302" y="12024360"/>
            <a:ext cx="1702069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368260" y="8069582"/>
            <a:ext cx="17104520" cy="395477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368260" y="12024360"/>
            <a:ext cx="17104520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302" y="2194560"/>
            <a:ext cx="12976382" cy="76809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04520" y="4739642"/>
            <a:ext cx="20368260" cy="233934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1302" y="9875520"/>
            <a:ext cx="12976382" cy="182956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302" y="2194560"/>
            <a:ext cx="12976382" cy="76809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04520" y="4739642"/>
            <a:ext cx="20368260" cy="233934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1302" y="9875520"/>
            <a:ext cx="12976382" cy="182956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792170" y="1752600"/>
            <a:ext cx="867537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66060" y="1752600"/>
            <a:ext cx="2552319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66060" y="1752603"/>
            <a:ext cx="347014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6060" y="8763000"/>
            <a:ext cx="347014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66060" y="30510482"/>
            <a:ext cx="90525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27380" y="30510482"/>
            <a:ext cx="135788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414980" y="30510482"/>
            <a:ext cx="90525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190A34-4461-9411-58BF-819136D31281}"/>
              </a:ext>
            </a:extLst>
          </p:cNvPr>
          <p:cNvSpPr/>
          <p:nvPr/>
        </p:nvSpPr>
        <p:spPr>
          <a:xfrm>
            <a:off x="0" y="0"/>
            <a:ext cx="40258530" cy="4006621"/>
          </a:xfrm>
          <a:prstGeom prst="rect">
            <a:avLst/>
          </a:prstGeom>
          <a:solidFill>
            <a:srgbClr val="A468F2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urple and black logo&#10;&#10;Description automatically generated">
            <a:extLst>
              <a:ext uri="{FF2B5EF4-FFF2-40B4-BE49-F238E27FC236}">
                <a16:creationId xmlns:a16="http://schemas.microsoft.com/office/drawing/2014/main" id="{6E49A1A9-724E-5647-B6EC-54D0DD9F3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28" y="501562"/>
            <a:ext cx="5058802" cy="3300495"/>
          </a:xfrm>
          <a:prstGeom prst="rect">
            <a:avLst/>
          </a:prstGeom>
        </p:spPr>
      </p:pic>
      <p:pic>
        <p:nvPicPr>
          <p:cNvPr id="7" name="Picture 6" descr="A purple and black logo&#10;&#10;Description automatically generated">
            <a:extLst>
              <a:ext uri="{FF2B5EF4-FFF2-40B4-BE49-F238E27FC236}">
                <a16:creationId xmlns:a16="http://schemas.microsoft.com/office/drawing/2014/main" id="{0BA11062-6B24-DC3C-7DA3-C4FAB9D70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6536" y="501561"/>
            <a:ext cx="5058802" cy="33004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A39D7B-8B39-B1FB-A4C6-71CA6D36B1EB}"/>
              </a:ext>
            </a:extLst>
          </p:cNvPr>
          <p:cNvSpPr txBox="1"/>
          <p:nvPr/>
        </p:nvSpPr>
        <p:spPr>
          <a:xfrm>
            <a:off x="8398041" y="233366"/>
            <a:ext cx="25121937" cy="379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sz="6600" b="1" dirty="0">
                <a:latin typeface="Times New Roman"/>
              </a:rPr>
              <a:t>Predictive Supply Chain Analytics</a:t>
            </a:r>
            <a:r>
              <a:rPr lang="en-US" sz="6600" b="1" dirty="0">
                <a:latin typeface="Times New Roman"/>
              </a:rPr>
              <a:t> </a:t>
            </a:r>
            <a:r>
              <a:rPr sz="6600" b="1" dirty="0">
                <a:latin typeface="Times New Roman"/>
              </a:rPr>
              <a:t>for Backorder Risk</a:t>
            </a:r>
          </a:p>
          <a:p>
            <a:pPr algn="ctr">
              <a:lnSpc>
                <a:spcPct val="108000"/>
              </a:lnSpc>
              <a:spcBef>
                <a:spcPts val="800"/>
              </a:spcBef>
              <a:spcAft>
                <a:spcPts val="400"/>
              </a:spcAft>
            </a:pPr>
            <a:r>
              <a:rPr sz="2800" b="0" dirty="0">
                <a:latin typeface="Times New Roman"/>
              </a:rPr>
              <a:t>When simpler models suffice</a:t>
            </a:r>
            <a:r>
              <a:rPr lang="en-US" sz="2800" b="0" dirty="0">
                <a:latin typeface="Times New Roman"/>
              </a:rPr>
              <a:t>; </a:t>
            </a:r>
            <a:r>
              <a:rPr sz="2800" b="0" dirty="0">
                <a:latin typeface="Times New Roman"/>
              </a:rPr>
              <a:t>logistic baselines under temporal validation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4400" b="0" dirty="0">
                <a:latin typeface="Times New Roman"/>
              </a:rPr>
              <a:t>Addy Cruz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4400" b="0" dirty="0">
                <a:latin typeface="Times New Roman"/>
              </a:rPr>
              <a:t>Advisor: Dr. Liang Jingsai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2800" b="0" dirty="0">
                <a:latin typeface="Times New Roman"/>
              </a:rPr>
              <a:t>DATA-470 Capstone  |  Data Science  |  Westminster University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74C6F1-925D-8A29-CD12-63A64C8679DB}"/>
              </a:ext>
            </a:extLst>
          </p:cNvPr>
          <p:cNvSpPr txBox="1"/>
          <p:nvPr/>
        </p:nvSpPr>
        <p:spPr>
          <a:xfrm>
            <a:off x="2800881" y="4351347"/>
            <a:ext cx="99044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600"/>
              </a:spcAft>
            </a:pPr>
            <a:r>
              <a:rPr sz="4800" b="1" dirty="0">
                <a:solidFill>
                  <a:srgbClr val="1B3A5C"/>
                </a:solidFill>
                <a:latin typeface="Times New Roman"/>
              </a:rPr>
              <a:t>PROBLEM: WHY SIMPLICITY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0DE22A-6181-35D9-EBB9-EFE7E6BD8917}"/>
              </a:ext>
            </a:extLst>
          </p:cNvPr>
          <p:cNvSpPr txBox="1"/>
          <p:nvPr/>
        </p:nvSpPr>
        <p:spPr>
          <a:xfrm>
            <a:off x="2800071" y="13489788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B3A5C"/>
                </a:solidFill>
                <a:latin typeface="Times New Roman"/>
              </a:rPr>
              <a:t>DATA &amp; SCOPE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6AF0CF-3979-D60E-1162-FC5150B22D0A}"/>
              </a:ext>
            </a:extLst>
          </p:cNvPr>
          <p:cNvSpPr txBox="1"/>
          <p:nvPr/>
        </p:nvSpPr>
        <p:spPr>
          <a:xfrm>
            <a:off x="2800033" y="22528173"/>
            <a:ext cx="6101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B3A5C"/>
                </a:solidFill>
                <a:latin typeface="Times New Roman"/>
              </a:rPr>
              <a:t>BASELINES (LR VS. LGBM)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D68B4A-EAF1-926C-0D43-0D0022ADB8A9}"/>
              </a:ext>
            </a:extLst>
          </p:cNvPr>
          <p:cNvSpPr txBox="1"/>
          <p:nvPr/>
        </p:nvSpPr>
        <p:spPr>
          <a:xfrm>
            <a:off x="15549885" y="4158142"/>
            <a:ext cx="990446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600"/>
              </a:spcAft>
            </a:pPr>
            <a:r>
              <a:rPr sz="4800" b="1" dirty="0">
                <a:solidFill>
                  <a:srgbClr val="1B3A5C"/>
                </a:solidFill>
                <a:latin typeface="Times New Roman"/>
              </a:rPr>
              <a:t>METRICS, FLOW &amp; VALIDATION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2CA61A-3259-1D47-4DD3-96FFB53ACDCA}"/>
              </a:ext>
            </a:extLst>
          </p:cNvPr>
          <p:cNvSpPr txBox="1"/>
          <p:nvPr/>
        </p:nvSpPr>
        <p:spPr>
          <a:xfrm>
            <a:off x="31857560" y="4351347"/>
            <a:ext cx="809777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dirty="0">
                <a:solidFill>
                  <a:srgbClr val="1B3A5C"/>
                </a:solidFill>
                <a:latin typeface="Times New Roman"/>
              </a:rPr>
              <a:t>TAKEAWAY: LR VS. BOOSTING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3E9B07-0CF6-450C-147D-1F79DCEFF120}"/>
              </a:ext>
            </a:extLst>
          </p:cNvPr>
          <p:cNvSpPr txBox="1"/>
          <p:nvPr/>
        </p:nvSpPr>
        <p:spPr>
          <a:xfrm>
            <a:off x="31857522" y="20093479"/>
            <a:ext cx="712479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dirty="0">
                <a:solidFill>
                  <a:srgbClr val="1B3A5C"/>
                </a:solidFill>
                <a:latin typeface="Times New Roman"/>
              </a:rPr>
              <a:t>LIMITS &amp; WHEN TO BOOST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9573E-355A-6610-B1A2-6ACF125E93FB}"/>
              </a:ext>
            </a:extLst>
          </p:cNvPr>
          <p:cNvSpPr txBox="1"/>
          <p:nvPr/>
        </p:nvSpPr>
        <p:spPr>
          <a:xfrm>
            <a:off x="200063" y="5451717"/>
            <a:ext cx="11503624" cy="4267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500"/>
              </a:spcAft>
            </a:pPr>
            <a:r>
              <a:rPr sz="2700">
                <a:solidFill>
                  <a:srgbClr val="333333"/>
                </a:solidFill>
                <a:latin typeface="Times New Roman"/>
              </a:rPr>
              <a:t>Inventory and service decisions need transparent inputs and stable scoring—not only leaderboard accuracy. Imbalance and leakage risk mean complex models can look strong under the wrong split.</a:t>
            </a:r>
            <a:endParaRPr lang="en-US" dirty="0" err="1"/>
          </a:p>
          <a:p>
            <a:pPr algn="l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sz="2700">
                <a:solidFill>
                  <a:srgbClr val="333333"/>
                </a:solidFill>
                <a:latin typeface="Times New Roman"/>
              </a:rPr>
              <a:t>This work scores backorder risk at order time with pre-fulfillment predictors only, withholding post-order fields so evaluation matches what operations can actually use.</a:t>
            </a:r>
          </a:p>
          <a:p>
            <a:pPr algn="l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sz="2700">
                <a:solidFill>
                  <a:srgbClr val="333333"/>
                </a:solidFill>
                <a:latin typeface="Times New Roman"/>
              </a:rPr>
              <a:t>The outcome is highly imbalanced (~3.4% positives). The poster compares a penalized logistic baseline to gradient boosting under a temporal stress test—the evaluation design matters as much as the algorithm.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1B7319-98D0-3B3F-34CA-AE9EC7725321}"/>
              </a:ext>
            </a:extLst>
          </p:cNvPr>
          <p:cNvSpPr txBox="1"/>
          <p:nvPr/>
        </p:nvSpPr>
        <p:spPr>
          <a:xfrm>
            <a:off x="199970" y="14523118"/>
            <a:ext cx="11503624" cy="7802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500"/>
              </a:spcAft>
            </a:pPr>
            <a:r>
              <a:rPr sz="2700">
                <a:solidFill>
                  <a:srgbClr val="333333"/>
                </a:solidFill>
                <a:latin typeface="Times New Roman"/>
              </a:rPr>
              <a:t>Data come from the SAP Supply Chain BigQuery release (Kaggle): sales, delivery, billing, inventory, purchasing, and master tables, aligned at order-line grain.</a:t>
            </a:r>
            <a:endParaRPr lang="en-US"/>
          </a:p>
          <a:p>
            <a:pPr algn="l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sz="2700">
                <a:solidFill>
                  <a:srgbClr val="333333"/>
                </a:solidFill>
                <a:latin typeface="Times New Roman"/>
              </a:rPr>
              <a:t>After labeling and filtering, the analysis uses 31,177 order lines from 52,118 source rows (59.8% coverage), with 3.38% positives (1,054 backorders).</a:t>
            </a:r>
          </a:p>
          <a:p>
            <a:pPr algn="l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sz="2700">
                <a:solidFill>
                  <a:srgbClr val="333333"/>
                </a:solidFill>
                <a:latin typeface="Times New Roman"/>
              </a:rPr>
              <a:t>Thirteen order-time predictors and seven missingness indicators are retained; twenty-three post-order attributes are withheld to enforce a leakage-safe contract. The feature set is tabular and linear-friendly—a strong reason to start with a regularized logistic model before adding boosting.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718E1C-9D60-E523-ACA2-90A89FB398B1}"/>
              </a:ext>
            </a:extLst>
          </p:cNvPr>
          <p:cNvSpPr txBox="1"/>
          <p:nvPr/>
        </p:nvSpPr>
        <p:spPr>
          <a:xfrm>
            <a:off x="199933" y="23561503"/>
            <a:ext cx="11503624" cy="9003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B3A5C"/>
                </a:solidFill>
                <a:latin typeface="Times New Roman"/>
              </a:rPr>
              <a:t>Baseline vs. benchmark</a:t>
            </a:r>
            <a:endParaRPr lang="en-US"/>
          </a:p>
          <a:p>
            <a:pPr algn="l">
              <a:lnSpc>
                <a:spcPct val="107000"/>
              </a:lnSpc>
              <a:spcBef>
                <a:spcPts val="200"/>
              </a:spcBef>
              <a:spcAft>
                <a:spcPts val="1000"/>
              </a:spcAft>
            </a:pPr>
            <a:r>
              <a:rPr sz="2500">
                <a:solidFill>
                  <a:srgbClr val="333333"/>
                </a:solidFill>
                <a:latin typeface="Times New Roman"/>
              </a:rPr>
              <a:t>Binary classification at order-line grain (backorder vs. not). Penalized logistic regression is the default, auditable estimator. LightGBM is a complexity benchmark: nonlinear uplift must earn its place against the temporal test, not only on easier splits.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600"/>
              </a:spcAft>
            </a:pPr>
            <a:r>
              <a:rPr sz="2800" b="1">
                <a:solidFill>
                  <a:srgbClr val="1B3A5C"/>
                </a:solidFill>
                <a:latin typeface="Times New Roman"/>
              </a:rPr>
              <a:t>Validation &amp; Metrics</a:t>
            </a:r>
          </a:p>
          <a:p>
            <a:pPr algn="l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</a:pPr>
            <a:r>
              <a:rPr sz="2500">
                <a:solidFill>
                  <a:srgbClr val="333333"/>
                </a:solidFill>
                <a:latin typeface="Times New Roman"/>
              </a:rPr>
              <a:t>Primary generalization assessment uses a temporal holdout (train on earlier periods, test on later periods). A grouped holdout by sales document provides a secondary diagnostic. The decision threshold is set from five-fold stratified out-of-fold scores on the training period.</a:t>
            </a:r>
          </a:p>
          <a:p>
            <a:pPr algn="l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</a:pPr>
            <a:r>
              <a:rPr sz="2500">
                <a:solidFill>
                  <a:srgbClr val="333333"/>
                </a:solidFill>
                <a:latin typeface="Times New Roman"/>
              </a:rPr>
              <a:t>PR-AUC and ROC-AUC describe ranking and discrimination; F1, precision, recall, and confusion patterns describe the operating point under rarity—low F1 on the temporal test does not by itself invalidate strong ROC-AUC.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DF4AC8-E658-F2D6-20E4-2432528897F8}"/>
              </a:ext>
            </a:extLst>
          </p:cNvPr>
          <p:cNvSpPr txBox="1"/>
          <p:nvPr/>
        </p:nvSpPr>
        <p:spPr>
          <a:xfrm>
            <a:off x="12410376" y="4963056"/>
            <a:ext cx="15888512" cy="27091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dirty="0"/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2800" b="1" u="sng" dirty="0">
                <a:solidFill>
                  <a:srgbClr val="1B3A5C"/>
                </a:solidFill>
                <a:latin typeface="Times New Roman"/>
              </a:rPr>
              <a:t>Evidence: stress splits, lineage, validation (LR vs. LGBM)</a:t>
            </a:r>
            <a:endParaRPr sz="2800" b="1" u="sng" dirty="0">
              <a:solidFill>
                <a:srgbClr val="1B3A5C"/>
              </a:solidFill>
              <a:latin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08FA56-FA36-0D71-D1AB-30D85B74C83D}"/>
              </a:ext>
            </a:extLst>
          </p:cNvPr>
          <p:cNvSpPr txBox="1"/>
          <p:nvPr/>
        </p:nvSpPr>
        <p:spPr>
          <a:xfrm>
            <a:off x="28858885" y="5485046"/>
            <a:ext cx="11070397" cy="7202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500"/>
              </a:spcAft>
            </a:pPr>
            <a:r>
              <a:rPr sz="2600">
                <a:solidFill>
                  <a:srgbClr val="333333"/>
                </a:solidFill>
                <a:latin typeface="Times New Roman"/>
              </a:rPr>
              <a:t>Temporal holdout is the honest deployment bar; grouped validation is easier when train and test overlap in calendar time—strong grouped metrics should not be mistaken for robustness under drift.</a:t>
            </a:r>
            <a:endParaRPr lang="en-US"/>
          </a:p>
          <a:p>
            <a:pPr algn="l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sz="2600">
                <a:solidFill>
                  <a:srgbClr val="333333"/>
                </a:solidFill>
                <a:latin typeface="Times New Roman"/>
              </a:rPr>
              <a:t>On the temporal holdout, logistic regression achieves higher PR-AUC than LightGBM (0.19 vs. 0.08); both retain strong ROC-AUC (~0.85). Here boosting did not buy better ranking quality on the split that matters most.</a:t>
            </a:r>
          </a:p>
          <a:p>
            <a:pPr algn="l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sz="2600">
                <a:solidFill>
                  <a:srgbClr val="333333"/>
                </a:solidFill>
                <a:latin typeface="Times New Roman"/>
              </a:rPr>
              <a:t>An auditable linear baseline aligns with threshold policy and review; LightGBM serves as a nonlinear benchmark, not the default operating choice in this study.</a:t>
            </a:r>
          </a:p>
          <a:p>
            <a:pPr algn="l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sz="2600">
                <a:solidFill>
                  <a:srgbClr val="333333"/>
                </a:solidFill>
                <a:latin typeface="Times New Roman"/>
              </a:rPr>
              <a:t>Withholding post-order fields removes leakage and lowers grouped F1 versus a legacy view—evaluation design drives the headline as much as model family. Confusion matrices (row-normalized) show recall at the chosen threshold under extreme imbalance.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94AC1-BB62-6330-27D6-84084E719030}"/>
              </a:ext>
            </a:extLst>
          </p:cNvPr>
          <p:cNvSpPr txBox="1"/>
          <p:nvPr/>
        </p:nvSpPr>
        <p:spPr>
          <a:xfrm>
            <a:off x="28875748" y="21256697"/>
            <a:ext cx="11053534" cy="113036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dirty="0">
                <a:solidFill>
                  <a:srgbClr val="1B3A5C"/>
                </a:solidFill>
                <a:latin typeface="Times New Roman"/>
              </a:rPr>
              <a:t>Limitations</a:t>
            </a:r>
            <a:endParaRPr lang="en-US" dirty="0"/>
          </a:p>
          <a:p>
            <a:pPr algn="l">
              <a:lnSpc>
                <a:spcPct val="107000"/>
              </a:lnSpc>
              <a:spcBef>
                <a:spcPts val="200"/>
              </a:spcBef>
              <a:spcAft>
                <a:spcPts val="1000"/>
              </a:spcAft>
            </a:pPr>
            <a:r>
              <a:rPr sz="2400" dirty="0">
                <a:solidFill>
                  <a:srgbClr val="333333"/>
                </a:solidFill>
                <a:latin typeface="Times New Roman"/>
              </a:rPr>
              <a:t>The temporal test has very few positives (0.89%; n = 58), so threshold metrics are high-variance. Post-order fields are excluded by design—no causal claims. Time-varying positivity and partial labeling complicate fixed thresholds.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600"/>
              </a:spcAft>
            </a:pPr>
            <a:r>
              <a:rPr sz="3200" b="1" dirty="0">
                <a:solidFill>
                  <a:srgbClr val="1B3A5C"/>
                </a:solidFill>
                <a:latin typeface="Times New Roman"/>
              </a:rPr>
              <a:t>When gradient boosting may still help</a:t>
            </a:r>
          </a:p>
          <a:p>
            <a:pPr algn="l">
              <a:lnSpc>
                <a:spcPct val="107000"/>
              </a:lnSpc>
              <a:spcBef>
                <a:spcPts val="200"/>
              </a:spcBef>
              <a:spcAft>
                <a:spcPts val="1000"/>
              </a:spcAft>
            </a:pPr>
            <a:r>
              <a:rPr sz="2400" dirty="0">
                <a:solidFill>
                  <a:srgbClr val="333333"/>
                </a:solidFill>
                <a:latin typeface="Times New Roman"/>
              </a:rPr>
              <a:t>Boosting is worth the added complexity if richer entity histories or interactions produce clear PR-AUC gains on the temporal holdout (not only on grouped splits), or if monitoring cost tradeoffs favor recall. Until then, the simpler model is a defensible default.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600"/>
              </a:spcAft>
            </a:pPr>
            <a:r>
              <a:rPr sz="3200" b="1" dirty="0">
                <a:solidFill>
                  <a:srgbClr val="1B3A5C"/>
                </a:solidFill>
                <a:latin typeface="Times New Roman"/>
              </a:rPr>
              <a:t>Future Work</a:t>
            </a:r>
          </a:p>
          <a:p>
            <a:pPr algn="l">
              <a:lnSpc>
                <a:spcPct val="107000"/>
              </a:lnSpc>
              <a:spcBef>
                <a:spcPts val="200"/>
              </a:spcBef>
              <a:spcAft>
                <a:spcPts val="1000"/>
              </a:spcAft>
            </a:pPr>
            <a:r>
              <a:rPr sz="2400" dirty="0">
                <a:solidFill>
                  <a:srgbClr val="333333"/>
                </a:solidFill>
                <a:latin typeface="Times New Roman"/>
              </a:rPr>
              <a:t>Extend the target to shortfall magnitude where labels allow; add entity histories and demand or inventory context as order-time inputs; deploy rolling temporal validation for production monitoring.</a:t>
            </a:r>
          </a:p>
          <a:p>
            <a:pPr algn="l">
              <a:lnSpc>
                <a:spcPct val="106000"/>
              </a:lnSpc>
              <a:spcBef>
                <a:spcPts val="800"/>
              </a:spcBef>
              <a:spcAft>
                <a:spcPts val="400"/>
              </a:spcAft>
            </a:pPr>
            <a:r>
              <a:rPr sz="2200" b="1" dirty="0">
                <a:solidFill>
                  <a:srgbClr val="666666"/>
                </a:solidFill>
                <a:latin typeface="Times New Roman"/>
              </a:rPr>
              <a:t>Data Source</a:t>
            </a:r>
          </a:p>
          <a:p>
            <a:pPr algn="l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</a:pPr>
            <a:r>
              <a:rPr sz="2000" b="0" dirty="0">
                <a:solidFill>
                  <a:srgbClr val="888888"/>
                </a:solidFill>
                <a:latin typeface="Times New Roman"/>
              </a:rPr>
              <a:t>SAP Supply Chain Dataset (</a:t>
            </a:r>
            <a:r>
              <a:rPr sz="2000" b="0" dirty="0" err="1">
                <a:solidFill>
                  <a:srgbClr val="888888"/>
                </a:solidFill>
                <a:latin typeface="Times New Roman"/>
              </a:rPr>
              <a:t>BigQuery</a:t>
            </a:r>
            <a:r>
              <a:rPr sz="2000" b="0" dirty="0">
                <a:solidFill>
                  <a:srgbClr val="888888"/>
                </a:solidFill>
                <a:latin typeface="Times New Roman"/>
              </a:rPr>
              <a:t> / Kaggle).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888888"/>
                </a:solidFill>
                <a:latin typeface="Times New Roman"/>
              </a:rPr>
              <a:t>Reproducible ETL and modeling code accompany the project.</a:t>
            </a:r>
          </a:p>
        </p:txBody>
      </p:sp>
      <p:pic>
        <p:nvPicPr>
          <p:cNvPr id="31" name="Picture 30" descr="showcase_model_comparis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376" y="5693182"/>
            <a:ext cx="15688512" cy="10284756"/>
          </a:xfrm>
          <a:prstGeom prst="rect">
            <a:avLst/>
          </a:prstGeom>
        </p:spPr>
      </p:pic>
      <p:pic>
        <p:nvPicPr>
          <p:cNvPr id="32" name="Picture 31" descr="01_data_and_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0376" y="15977938"/>
            <a:ext cx="7804256" cy="16482321"/>
          </a:xfrm>
          <a:prstGeom prst="rect">
            <a:avLst/>
          </a:prstGeom>
        </p:spPr>
      </p:pic>
      <p:pic>
        <p:nvPicPr>
          <p:cNvPr id="33" name="Picture 32" descr="02_validation_and_mode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59632" y="18946588"/>
            <a:ext cx="7804256" cy="9008756"/>
          </a:xfrm>
          <a:prstGeom prst="rect">
            <a:avLst/>
          </a:prstGeom>
        </p:spPr>
      </p:pic>
      <p:pic>
        <p:nvPicPr>
          <p:cNvPr id="34" name="Picture 33" descr="classification_confusion_matrices_v2_orderti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58885" y="12907326"/>
            <a:ext cx="10870397" cy="686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689</Words>
  <Application>Microsoft Macintosh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Addy Cruz</cp:lastModifiedBy>
  <cp:revision>232</cp:revision>
  <dcterms:created xsi:type="dcterms:W3CDTF">2024-02-07T19:57:17Z</dcterms:created>
  <dcterms:modified xsi:type="dcterms:W3CDTF">2026-04-21T17:05:53Z</dcterms:modified>
</cp:coreProperties>
</file>